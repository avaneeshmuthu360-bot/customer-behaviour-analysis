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fd71fdf-f7fa-0d4f-582a-8b0646a953c2}">
          <p14:sldIdLst>
            <p14:sldId id="256"/>
            <p14:sldId id="257"/>
          </p14:sldIdLst>
        </p14:section>
        <p14:section name="Approach" id="{e6e5ec26-ccf9-51d6-688e-72945b4761b1}">
          <p14:sldIdLst>
            <p14:sldId id="258"/>
            <p14:sldId id="259"/>
          </p14:sldIdLst>
        </p14:section>
        <p14:section name="Findings" id="{1a5f90fc-514a-727e-36e1-bdcf3663d3f4}">
          <p14:sldIdLst>
            <p14:sldId id="260"/>
            <p14:sldId id="261"/>
            <p14:sldId id="262"/>
            <p14:sldId id="263"/>
            <p14:sldId id="264"/>
          </p14:sldIdLst>
        </p14:section>
        <p14:section name="Recommendations" id="{6a1704e2-fd3e-23e7-c420-ada8c12ab43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14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1452"/>
                </a:solidFill>
                <a:latin typeface="+mn-lt"/>
              </a:rPr>
              <a:t>Share of customers subscribed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99"/>
              </a:solidFill>
              <a:effectLst/>
            </c:spPr>
          </c:dPt>
          <c:dPt>
            <c:idx val="1"/>
            <c:bubble3D val="0"/>
            <c:spPr>
              <a:solidFill>
                <a:srgbClr val="C2338F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Not subscribed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7.3</c:v>
                </c:pt>
                <c:pt idx="1">
                  <c:v>92.7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14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1452"/>
                </a:solidFill>
                <a:latin typeface="+mn-lt"/>
              </a:rPr>
              <a:t>Revenue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2A99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</c:v>
                </c:pt>
                <c:pt idx="1">
                  <c:v>74</c:v>
                </c:pt>
                <c:pt idx="2">
                  <c:v>36</c:v>
                </c:pt>
                <c:pt idx="3">
                  <c:v>19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6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14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1452"/>
                </a:solidFill>
                <a:latin typeface="+mn-lt"/>
              </a:rPr>
              <a:t>Items sold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F2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6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14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1452"/>
                </a:solidFill>
                <a:latin typeface="+mn-lt"/>
              </a:rPr>
              <a:t>Revenue by age group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2A99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 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59</c:v>
                </c:pt>
                <c:pt idx="2">
                  <c:v>56</c:v>
                </c:pt>
                <c:pt idx="3">
                  <c:v>56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analysis of customer shopping behaviour using Python, SQL and Power BI, ending in business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headline: the business is healthy on spend and categories, but the subscription programme is small and reaches only male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stages. Each stage feeds the next: pandas for cleaning, SQLite as the single source, SQL for analysis, Power BI for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quality was good: only 37 review ratings were missing (under 1%). Mention the two engineered features and the redundant column that was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finding. Every subscriber is male. Ask the client: is the subscription offer designed or marketed with women in mind?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Clothing is the core of the business on both revenue and volume. Outerwear is the weakest category and worth a range and pricing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groups are four equal-size bands. Young adults lead slightly on revenue and purchases, but the spread is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presenting live, switch to Power BI here and demonstrate the slicers, for example filter Gender = Female and show subscribers drop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 used: aggregations, subqueries, CASE logic, CTEs and ROW_NUMBER window functions. Queries are in expense.sqbpro.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highlighted card is the top priority: a subscription offer that wins female customers. The other five are the broader recommendations from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next steps: survey female customers, pilot a targeted subscription offer, and track subscription rate by gender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Customer Shopping Behaviour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Shopping Behaviour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Insights and recommendations from 3,900 customer purchases</a:t>
            </a:r>
            <a:endParaRPr lang="en-US" sz="1800" dirty="0"/>
          </a:p>
        </p:txBody>
      </p:sp>
      <p:pic>
        <p:nvPicPr>
          <p:cNvPr id="4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Subscriptions are our biggest growth opportunity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analysed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purchase amount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review rating</a:t>
            </a:r>
            <a:endParaRPr lang="en-US" sz="1400" dirty="0"/>
          </a:p>
        </p:txBody>
      </p:sp>
      <p:sp>
        <p:nvSpPr>
          <p:cNvPr id="12" name="Key message"/>
          <p:cNvSpPr/>
          <p:nvPr/>
        </p:nvSpPr>
        <p:spPr>
          <a:xfrm>
            <a:off x="457200" y="2971800"/>
            <a:ext cx="822960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Ale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83280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310896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Only 7.3% of customers subscribe, and none of them are women.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Clothing leads revenue, age groups are balanced, and five actions can lift subscription and loyalty.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 end-to-end pipeline from raw CSV to dashboard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37160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1 circle"/>
          <p:cNvSpPr/>
          <p:nvPr/>
        </p:nvSpPr>
        <p:spPr>
          <a:xfrm>
            <a:off x="10058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7647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Python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718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Load, profile, clean and engineer features with pandas</a:t>
            </a:r>
            <a:endParaRPr lang="en-US" sz="1400" dirty="0"/>
          </a:p>
        </p:txBody>
      </p:sp>
      <p:pic>
        <p:nvPicPr>
          <p:cNvPr id="8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697480"/>
            <a:ext cx="228600" cy="228600"/>
          </a:xfrm>
          <a:prstGeom prst="rect">
            <a:avLst/>
          </a:prstGeom>
        </p:spPr>
      </p:pic>
      <p:sp>
        <p:nvSpPr>
          <p:cNvPr id="9" name="Step 2"/>
          <p:cNvSpPr/>
          <p:nvPr/>
        </p:nvSpPr>
        <p:spPr>
          <a:xfrm>
            <a:off x="2606040" y="137160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ep 2 circle"/>
          <p:cNvSpPr/>
          <p:nvPr/>
        </p:nvSpPr>
        <p:spPr>
          <a:xfrm>
            <a:off x="31546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76479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SQLite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2743200" y="29718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 cleaned data in table customer_behaviour</a:t>
            </a:r>
            <a:endParaRPr lang="en-US" sz="1400" dirty="0"/>
          </a:p>
        </p:txBody>
      </p:sp>
      <p:pic>
        <p:nvPicPr>
          <p:cNvPr id="14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97480"/>
            <a:ext cx="228600" cy="228600"/>
          </a:xfrm>
          <a:prstGeom prst="rect">
            <a:avLst/>
          </a:prstGeom>
        </p:spPr>
      </p:pic>
      <p:sp>
        <p:nvSpPr>
          <p:cNvPr id="15" name="Step 3"/>
          <p:cNvSpPr/>
          <p:nvPr/>
        </p:nvSpPr>
        <p:spPr>
          <a:xfrm>
            <a:off x="4754880" y="137160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3 circle"/>
          <p:cNvSpPr/>
          <p:nvPr/>
        </p:nvSpPr>
        <p:spPr>
          <a:xfrm>
            <a:off x="53035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1764792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846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SQL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4892040" y="29718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10 business questions with CTEs and window functions</a:t>
            </a:r>
            <a:endParaRPr lang="en-US" sz="1400" dirty="0"/>
          </a:p>
        </p:txBody>
      </p:sp>
      <p:pic>
        <p:nvPicPr>
          <p:cNvPr id="20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97480"/>
            <a:ext cx="228600" cy="228600"/>
          </a:xfrm>
          <a:prstGeom prst="rect">
            <a:avLst/>
          </a:prstGeom>
        </p:spPr>
      </p:pic>
      <p:sp>
        <p:nvSpPr>
          <p:cNvPr id="21" name="Step 4"/>
          <p:cNvSpPr/>
          <p:nvPr/>
        </p:nvSpPr>
        <p:spPr>
          <a:xfrm>
            <a:off x="6903720" y="137160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tep 4 circle"/>
          <p:cNvSpPr/>
          <p:nvPr/>
        </p:nvSpPr>
        <p:spPr>
          <a:xfrm>
            <a:off x="745236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tep 4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1764792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9516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Power BI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7040880" y="29718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dashboard with KPIs and slicers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Clean data: 3,900 rows, 18 columns, no duplicates</a:t>
            </a:r>
            <a:endParaRPr lang="en-US" sz="2800" dirty="0"/>
          </a:p>
        </p:txBody>
      </p:sp>
      <p:sp>
        <p:nvSpPr>
          <p:cNvPr id="3" name="Dataset card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row per customer purchase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Ages 18–70, mean 44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2,652 male, 1,248 female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25 items in 4 categories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50 US states</a:t>
            </a:r>
            <a:endParaRPr lang="en-US" sz="1500" dirty="0"/>
          </a:p>
        </p:txBody>
      </p:sp>
      <p:sp>
        <p:nvSpPr>
          <p:cNvPr id="6" name="Clean 1 circle"/>
          <p:cNvSpPr/>
          <p:nvPr/>
        </p:nvSpPr>
        <p:spPr>
          <a:xfrm>
            <a:off x="411480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lea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Filled 37 missing ratings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Category median, so no rows are lost</a:t>
            </a:r>
            <a:endParaRPr lang="en-US" sz="1600" dirty="0"/>
          </a:p>
        </p:txBody>
      </p:sp>
      <p:sp>
        <p:nvSpPr>
          <p:cNvPr id="9" name="Clean 2 circle"/>
          <p:cNvSpPr/>
          <p:nvPr/>
        </p:nvSpPr>
        <p:spPr>
          <a:xfrm>
            <a:off x="4114800" y="21305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lea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2677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46320" y="2039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Created 4 age groups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Equal-size bands with pd.qcut</a:t>
            </a:r>
            <a:endParaRPr lang="en-US" sz="1600" dirty="0"/>
          </a:p>
        </p:txBody>
      </p:sp>
      <p:sp>
        <p:nvSpPr>
          <p:cNvPr id="12" name="Clean 3 circle"/>
          <p:cNvSpPr/>
          <p:nvPr/>
        </p:nvSpPr>
        <p:spPr>
          <a:xfrm>
            <a:off x="4114800" y="29809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lea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181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46320" y="28895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Made frequency numeric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Weekly = 7 days … Annually = 365</a:t>
            </a:r>
            <a:endParaRPr lang="en-US" sz="1600" dirty="0"/>
          </a:p>
        </p:txBody>
      </p:sp>
      <p:sp>
        <p:nvSpPr>
          <p:cNvPr id="15" name="Clean 4 circle"/>
          <p:cNvSpPr/>
          <p:nvPr/>
        </p:nvSpPr>
        <p:spPr>
          <a:xfrm>
            <a:off x="4114800" y="38313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lea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9684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46320" y="37398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Dropped promo_code_used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Identical to discount_applied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 one female customer has a subscription</a:t>
            </a:r>
            <a:endParaRPr lang="en-US" sz="2800" dirty="0"/>
          </a:p>
        </p:txBody>
      </p:sp>
      <p:graphicFrame>
        <p:nvGraphicFramePr>
          <p:cNvPr id="3" name="Subscription donut" descr=""/>
          <p:cNvGraphicFramePr/>
          <p:nvPr/>
        </p:nvGraphicFramePr>
        <p:xfrm>
          <a:off x="457200" y="109728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emale stat card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92040" y="1280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1,248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female customers subscribe, although women are 32% of the customer base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this means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Subscription revenue comes only from men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offer is not reaching or appealing to a third of customers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92.7% of all customers are still available to convert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Clothing leads on revenue and units sold</a:t>
            </a:r>
            <a:endParaRPr lang="en-US" sz="2800" dirty="0"/>
          </a:p>
        </p:txBody>
      </p:sp>
      <p:graphicFrame>
        <p:nvGraphicFramePr>
          <p:cNvPr id="3" name="Revenue by category" descr=""/>
          <p:cNvGraphicFramePr/>
          <p:nvPr/>
        </p:nvGraphicFramePr>
        <p:xfrm>
          <a:off x="457200" y="1097280"/>
          <a:ext cx="3977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Units by category" descr=""/>
          <p:cNvGraphicFramePr/>
          <p:nvPr/>
        </p:nvGraphicFramePr>
        <p:xfrm>
          <a:off x="4709160" y="1097280"/>
          <a:ext cx="3977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Values read from the Power BI dashboard and rounded.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Young adults lead, but every age group matters</a:t>
            </a:r>
            <a:endParaRPr lang="en-US" sz="2800" dirty="0"/>
          </a:p>
        </p:txBody>
      </p:sp>
      <p:graphicFrame>
        <p:nvGraphicFramePr>
          <p:cNvPr id="3" name="Revenue by age" descr=""/>
          <p:cNvGraphicFramePr/>
          <p:nvPr/>
        </p:nvGraphicFramePr>
        <p:xfrm>
          <a:off x="457200" y="1097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ge insight card"/>
          <p:cNvSpPr/>
          <p:nvPr/>
        </p:nvSpPr>
        <p:spPr>
          <a:xfrm>
            <a:off x="5760720" y="1188720"/>
            <a:ext cx="2926080" cy="310896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15%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gap in revenue between the highest and lowest age group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8346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Young adults also make the most purchases, just over 1,000. Campaigns should prioritise them without neglecting older groups.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Values read from the Power BI dashboard and rounded.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Power BI dashboard puts it all on one page</a:t>
            </a:r>
            <a:endParaRPr lang="en-US" sz="2800" dirty="0"/>
          </a:p>
        </p:txBody>
      </p:sp>
      <p:pic>
        <p:nvPicPr>
          <p:cNvPr id="3" name="Dashboard screenshot" descr="Customer Behaviour Dashboard in Power 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345936" cy="3520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040880" y="1097280"/>
            <a:ext cx="1645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Filter by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Subscription status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Shipping 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KPI cards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 and age charts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Ten SQL questions in four business themes</a:t>
            </a:r>
            <a:endParaRPr lang="en-US" sz="2800" dirty="0"/>
          </a:p>
        </p:txBody>
      </p:sp>
      <p:sp>
        <p:nvSpPr>
          <p:cNvPr id="3" name="Theme 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heme 1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hem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036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and spend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5564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Q1 Revenue by gender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Q2 Discount users above average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Q4 Standard vs Express spend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Q5 Subscriber vs non-subscriber</a:t>
            </a:r>
            <a:endParaRPr lang="en-US" sz="1400" dirty="0"/>
          </a:p>
        </p:txBody>
      </p:sp>
      <p:sp>
        <p:nvSpPr>
          <p:cNvPr id="8" name="Theme 2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heme 2 circle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hem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14036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75564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Q3 Top 5 rated products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Q6 Most-discounted products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Q8 Top 3 items per category</a:t>
            </a:r>
            <a:endParaRPr lang="en-US" sz="1400" dirty="0"/>
          </a:p>
        </p:txBody>
      </p:sp>
      <p:sp>
        <p:nvSpPr>
          <p:cNvPr id="13" name="Theme 3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heme 3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hem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1866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Loyalty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353872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Q7 New, Returning, Loyal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Q9 Do repeat buyers subscribe?</a:t>
            </a:r>
            <a:endParaRPr lang="en-US" sz="1400" dirty="0"/>
          </a:p>
        </p:txBody>
      </p:sp>
      <p:sp>
        <p:nvSpPr>
          <p:cNvPr id="18" name="Theme 4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heme 4 circle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Them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31866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Demographics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353872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Q10 Revenue by age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actions to grow subscriptions and loyalty</a:t>
            </a:r>
            <a:endParaRPr lang="en-US" sz="2800" dirty="0"/>
          </a:p>
        </p:txBody>
      </p:sp>
      <p:sp>
        <p:nvSpPr>
          <p:cNvPr id="3" name="Rec 1"/>
          <p:cNvSpPr/>
          <p:nvPr/>
        </p:nvSpPr>
        <p:spPr>
          <a:xfrm>
            <a:off x="457200" y="114300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ec 1 circl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c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493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Win female subscribers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Survey women and test benefits aimed at them</a:t>
            </a:r>
            <a:endParaRPr lang="en-US" sz="1400" dirty="0"/>
          </a:p>
        </p:txBody>
      </p:sp>
      <p:sp>
        <p:nvSpPr>
          <p:cNvPr id="8" name="Rec 2"/>
          <p:cNvSpPr/>
          <p:nvPr/>
        </p:nvSpPr>
        <p:spPr>
          <a:xfrm>
            <a:off x="3264408" y="114300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2 circle"/>
          <p:cNvSpPr/>
          <p:nvPr/>
        </p:nvSpPr>
        <p:spPr>
          <a:xfrm>
            <a:off x="3447288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ec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493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Boost subscriptions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Promote exclusive subscriber benefits</a:t>
            </a:r>
            <a:endParaRPr lang="en-US" sz="1400" dirty="0"/>
          </a:p>
        </p:txBody>
      </p:sp>
      <p:sp>
        <p:nvSpPr>
          <p:cNvPr id="13" name="Rec 3"/>
          <p:cNvSpPr/>
          <p:nvPr/>
        </p:nvSpPr>
        <p:spPr>
          <a:xfrm>
            <a:off x="6071616" y="114300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3 circle"/>
          <p:cNvSpPr/>
          <p:nvPr/>
        </p:nvSpPr>
        <p:spPr>
          <a:xfrm>
            <a:off x="6254496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Rec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4493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Loyalty programme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repeat buyers to move them to Loyal</a:t>
            </a:r>
            <a:endParaRPr lang="en-US" sz="1400" dirty="0"/>
          </a:p>
        </p:txBody>
      </p:sp>
      <p:sp>
        <p:nvSpPr>
          <p:cNvPr id="18" name="Rec 4"/>
          <p:cNvSpPr/>
          <p:nvPr/>
        </p:nvSpPr>
        <p:spPr>
          <a:xfrm>
            <a:off x="457200" y="288036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4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ec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1866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 discounts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 sales lift against margin</a:t>
            </a:r>
            <a:endParaRPr lang="en-US" sz="1400" dirty="0"/>
          </a:p>
        </p:txBody>
      </p:sp>
      <p:sp>
        <p:nvSpPr>
          <p:cNvPr id="23" name="Rec 5"/>
          <p:cNvSpPr/>
          <p:nvPr/>
        </p:nvSpPr>
        <p:spPr>
          <a:xfrm>
            <a:off x="3264408" y="288036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ec 5 circle"/>
          <p:cNvSpPr/>
          <p:nvPr/>
        </p:nvSpPr>
        <p:spPr>
          <a:xfrm>
            <a:off x="3447288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Rec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8668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 positioning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top-rated, best-selling items</a:t>
            </a:r>
            <a:endParaRPr lang="en-US" sz="1400" dirty="0"/>
          </a:p>
        </p:txBody>
      </p:sp>
      <p:sp>
        <p:nvSpPr>
          <p:cNvPr id="28" name="Rec 6"/>
          <p:cNvSpPr/>
          <p:nvPr/>
        </p:nvSpPr>
        <p:spPr>
          <a:xfrm>
            <a:off x="6071616" y="288036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ec 6 circle"/>
          <p:cNvSpPr/>
          <p:nvPr/>
        </p:nvSpPr>
        <p:spPr>
          <a:xfrm>
            <a:off x="6254496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Rec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18668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Targeted marketing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 on high-revenue ages and Express users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step: design a subscription offer for women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and discussion</a:t>
            </a:r>
            <a:endParaRPr lang="en-US" sz="1800" dirty="0"/>
          </a:p>
        </p:txBody>
      </p:sp>
      <p:pic>
        <p:nvPicPr>
          <p:cNvPr id="4" name="Clo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er Behaviour">
  <a:themeElements>
    <a:clrScheme name="Customer Behaviour">
      <a:dk1>
        <a:srgbClr val="1F1A24"/>
      </a:dk1>
      <a:lt1>
        <a:srgbClr val="FFFFFF"/>
      </a:lt1>
      <a:dk2>
        <a:srgbClr val="3D1452"/>
      </a:dk2>
      <a:lt2>
        <a:srgbClr val="F6F1F8"/>
      </a:lt2>
      <a:accent1>
        <a:srgbClr val="C2338F"/>
      </a:accent1>
      <a:accent2>
        <a:srgbClr val="1F2A99"/>
      </a:accent2>
      <a:accent3>
        <a:srgbClr val="7A4E91"/>
      </a:accent3>
      <a:accent4>
        <a:srgbClr val="E7A3CF"/>
      </a:accent4>
      <a:accent5>
        <a:srgbClr val="8C93D9"/>
      </a:accent5>
      <a:accent6>
        <a:srgbClr val="5E5A66"/>
      </a:accent6>
      <a:hlink>
        <a:srgbClr val="1F2A99"/>
      </a:hlink>
      <a:folHlink>
        <a:srgbClr val="7A4E91"/>
      </a:folHlink>
    </a:clrScheme>
    <a:fontScheme name="Customer Behaviou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PptxGenJS</dc:creator>
  <cp:lastModifiedBy>PptxGenJS</cp:lastModifiedBy>
  <cp:revision>1</cp:revision>
  <dcterms:created xsi:type="dcterms:W3CDTF">2026-10-24T15:10:42Z</dcterms:created>
  <dcterms:modified xsi:type="dcterms:W3CDTF">2026-10-24T15:10:42Z</dcterms:modified>
</cp:coreProperties>
</file>